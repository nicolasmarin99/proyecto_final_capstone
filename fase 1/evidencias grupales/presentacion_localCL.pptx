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" charset="1" panose="020F0502020204030204"/>
      <p:regular r:id="rId21"/>
    </p:embeddedFont>
    <p:embeddedFont>
      <p:font typeface="Chunk Five" charset="1" panose="00000500000000000000"/>
      <p:regular r:id="rId22"/>
    </p:embeddedFont>
    <p:embeddedFont>
      <p:font typeface="Cambria Bold" charset="1" panose="0204080305040603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04520" y="-2194560"/>
            <a:ext cx="7543800" cy="7543800"/>
            <a:chOff x="0" y="0"/>
            <a:chExt cx="10058400" cy="1005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017520" y="6309360"/>
            <a:ext cx="7132320" cy="7132320"/>
            <a:chOff x="0" y="0"/>
            <a:chExt cx="9509760" cy="9509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6B2FBE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1234440"/>
            <a:ext cx="14401800" cy="548640"/>
            <a:chOff x="0" y="0"/>
            <a:chExt cx="19202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920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8FA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ESCUELA DE INFORMÁTICA Y TELECOMUNICACIONES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5966460"/>
            <a:ext cx="14401800" cy="685800"/>
            <a:chOff x="0" y="0"/>
            <a:chExt cx="19202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202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8FA5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Fase 1 · Definición del Proyecto APT — Asignatura CAPSTONE 46104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22560">
            <a:off x="1215323" y="7328535"/>
            <a:ext cx="5798944" cy="0"/>
          </a:xfrm>
          <a:prstGeom prst="line">
            <a:avLst/>
          </a:prstGeom>
          <a:ln cap="rnd" w="19050">
            <a:solidFill>
              <a:srgbClr val="3D5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234440" y="7612380"/>
            <a:ext cx="15087600" cy="1879543"/>
            <a:chOff x="0" y="0"/>
            <a:chExt cx="20116800" cy="25060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0" cy="2506057"/>
            </a:xfrm>
            <a:custGeom>
              <a:avLst/>
              <a:gdLst/>
              <a:ahLst/>
              <a:cxnLst/>
              <a:rect r="r" b="b" t="t" l="l"/>
              <a:pathLst>
                <a:path h="2506057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506057"/>
                  </a:lnTo>
                  <a:lnTo>
                    <a:pt x="0" y="25060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626" r="0" b="-1001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00025"/>
              <a:ext cx="20116800" cy="27060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Integrantes: Nicolas Marin, Martin nuñez</a:t>
              </a:r>
            </a:p>
            <a:p>
              <a:pPr algn="l">
                <a:lnSpc>
                  <a:spcPts val="5040"/>
                </a:lnSpc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Carrera: Ingenieria informatica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Sede: Plaza norte</a:t>
              </a:r>
            </a:p>
            <a:p>
              <a:pPr algn="l">
                <a:lnSpc>
                  <a:spcPts val="5040"/>
                </a:lnSpc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Docente guía: Marcela Gonzalez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Fecha: 02/09/2026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-1693733" y="4103053"/>
            <a:ext cx="15819120" cy="173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Proyecto LocalCL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2114" y="-444535"/>
            <a:ext cx="19835998" cy="12793509"/>
            <a:chOff x="0" y="0"/>
            <a:chExt cx="5224296" cy="3369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4296" cy="3369484"/>
            </a:xfrm>
            <a:custGeom>
              <a:avLst/>
              <a:gdLst/>
              <a:ahLst/>
              <a:cxnLst/>
              <a:rect r="r" b="b" t="t" l="l"/>
              <a:pathLst>
                <a:path h="3369484" w="5224296">
                  <a:moveTo>
                    <a:pt x="6635" y="0"/>
                  </a:moveTo>
                  <a:lnTo>
                    <a:pt x="5217661" y="0"/>
                  </a:lnTo>
                  <a:cubicBezTo>
                    <a:pt x="5221325" y="0"/>
                    <a:pt x="5224296" y="2971"/>
                    <a:pt x="5224296" y="6635"/>
                  </a:cubicBezTo>
                  <a:lnTo>
                    <a:pt x="5224296" y="3362849"/>
                  </a:lnTo>
                  <a:cubicBezTo>
                    <a:pt x="5224296" y="3364609"/>
                    <a:pt x="5223597" y="3366296"/>
                    <a:pt x="5222353" y="3367541"/>
                  </a:cubicBezTo>
                  <a:cubicBezTo>
                    <a:pt x="5221108" y="3368785"/>
                    <a:pt x="5219421" y="3369484"/>
                    <a:pt x="5217661" y="3369484"/>
                  </a:cubicBezTo>
                  <a:lnTo>
                    <a:pt x="6635" y="3369484"/>
                  </a:lnTo>
                  <a:cubicBezTo>
                    <a:pt x="2971" y="3369484"/>
                    <a:pt x="0" y="3366513"/>
                    <a:pt x="0" y="3362849"/>
                  </a:cubicBezTo>
                  <a:lnTo>
                    <a:pt x="0" y="6635"/>
                  </a:lnTo>
                  <a:cubicBezTo>
                    <a:pt x="0" y="4875"/>
                    <a:pt x="699" y="3188"/>
                    <a:pt x="1943" y="1943"/>
                  </a:cubicBezTo>
                  <a:cubicBezTo>
                    <a:pt x="3188" y="699"/>
                    <a:pt x="4875" y="0"/>
                    <a:pt x="6635" y="0"/>
                  </a:cubicBezTo>
                  <a:close/>
                </a:path>
              </a:pathLst>
            </a:custGeom>
            <a:solidFill>
              <a:srgbClr val="C2DF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24296" cy="3417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17220"/>
            <a:ext cx="13030200" cy="480060"/>
            <a:chOff x="0" y="0"/>
            <a:chExt cx="173736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37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D5A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PARTE I · PUNTO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69848"/>
            <a:ext cx="14401800" cy="960120"/>
            <a:chOff x="0" y="0"/>
            <a:chExt cx="1920240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Descripción del Proyecto APT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5800" y="2196270"/>
            <a:ext cx="16088868" cy="5327139"/>
            <a:chOff x="0" y="0"/>
            <a:chExt cx="4237397" cy="14030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37397" cy="1403033"/>
            </a:xfrm>
            <a:custGeom>
              <a:avLst/>
              <a:gdLst/>
              <a:ahLst/>
              <a:cxnLst/>
              <a:rect r="r" b="b" t="t" l="l"/>
              <a:pathLst>
                <a:path h="1403033" w="4237397">
                  <a:moveTo>
                    <a:pt x="8180" y="0"/>
                  </a:moveTo>
                  <a:lnTo>
                    <a:pt x="4229217" y="0"/>
                  </a:lnTo>
                  <a:cubicBezTo>
                    <a:pt x="4231386" y="0"/>
                    <a:pt x="4233467" y="862"/>
                    <a:pt x="4235001" y="2396"/>
                  </a:cubicBezTo>
                  <a:cubicBezTo>
                    <a:pt x="4236535" y="3930"/>
                    <a:pt x="4237397" y="6011"/>
                    <a:pt x="4237397" y="8180"/>
                  </a:cubicBezTo>
                  <a:lnTo>
                    <a:pt x="4237397" y="1394852"/>
                  </a:lnTo>
                  <a:cubicBezTo>
                    <a:pt x="4237397" y="1397022"/>
                    <a:pt x="4236535" y="1399102"/>
                    <a:pt x="4235001" y="1400637"/>
                  </a:cubicBezTo>
                  <a:cubicBezTo>
                    <a:pt x="4233467" y="1402171"/>
                    <a:pt x="4231386" y="1403033"/>
                    <a:pt x="4229217" y="1403033"/>
                  </a:cubicBezTo>
                  <a:lnTo>
                    <a:pt x="8180" y="1403033"/>
                  </a:lnTo>
                  <a:cubicBezTo>
                    <a:pt x="6011" y="1403033"/>
                    <a:pt x="3930" y="1402171"/>
                    <a:pt x="2396" y="1400637"/>
                  </a:cubicBezTo>
                  <a:cubicBezTo>
                    <a:pt x="862" y="1399102"/>
                    <a:pt x="0" y="1397022"/>
                    <a:pt x="0" y="1394852"/>
                  </a:cubicBezTo>
                  <a:lnTo>
                    <a:pt x="0" y="8180"/>
                  </a:lnTo>
                  <a:cubicBezTo>
                    <a:pt x="0" y="6011"/>
                    <a:pt x="862" y="3930"/>
                    <a:pt x="2396" y="2396"/>
                  </a:cubicBezTo>
                  <a:cubicBezTo>
                    <a:pt x="3930" y="862"/>
                    <a:pt x="6011" y="0"/>
                    <a:pt x="818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237397" cy="145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84336" y="3047049"/>
            <a:ext cx="14503277" cy="669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4687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Nuestro Proyecto Local Chile tiene como objetivo central generar una plataforma que funcione como guía  de búsqueda y contacto con servicios de oficio locales, pymes y más.</a:t>
            </a:r>
          </a:p>
          <a:p>
            <a:pPr algn="l">
              <a:lnSpc>
                <a:spcPts val="6562"/>
              </a:lnSpc>
            </a:pPr>
          </a:p>
          <a:p>
            <a:pPr algn="l">
              <a:lnSpc>
                <a:spcPts val="6562"/>
              </a:lnSpc>
            </a:pPr>
          </a:p>
          <a:p>
            <a:pPr algn="l">
              <a:lnSpc>
                <a:spcPts val="6562"/>
              </a:lnSpc>
            </a:pPr>
          </a:p>
          <a:p>
            <a:pPr algn="l">
              <a:lnSpc>
                <a:spcPts val="6562"/>
              </a:lnSpc>
            </a:pPr>
          </a:p>
        </p:txBody>
      </p:sp>
      <p:sp>
        <p:nvSpPr>
          <p:cNvPr name="Freeform 26" id="26"/>
          <p:cNvSpPr/>
          <p:nvPr/>
        </p:nvSpPr>
        <p:spPr>
          <a:xfrm flipH="false" flipV="false" rot="-1801142">
            <a:off x="14011238" y="4359622"/>
            <a:ext cx="7924626" cy="6656686"/>
          </a:xfrm>
          <a:custGeom>
            <a:avLst/>
            <a:gdLst/>
            <a:ahLst/>
            <a:cxnLst/>
            <a:rect r="r" b="b" t="t" l="l"/>
            <a:pathLst>
              <a:path h="6656686" w="7924626">
                <a:moveTo>
                  <a:pt x="0" y="0"/>
                </a:moveTo>
                <a:lnTo>
                  <a:pt x="7924626" y="0"/>
                </a:lnTo>
                <a:lnTo>
                  <a:pt x="7924626" y="6656686"/>
                </a:lnTo>
                <a:lnTo>
                  <a:pt x="0" y="6656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979268" y="6617495"/>
            <a:ext cx="6347567" cy="5371298"/>
          </a:xfrm>
          <a:custGeom>
            <a:avLst/>
            <a:gdLst/>
            <a:ahLst/>
            <a:cxnLst/>
            <a:rect r="r" b="b" t="t" l="l"/>
            <a:pathLst>
              <a:path h="5371298" w="6347567">
                <a:moveTo>
                  <a:pt x="0" y="0"/>
                </a:moveTo>
                <a:lnTo>
                  <a:pt x="6347567" y="0"/>
                </a:lnTo>
                <a:lnTo>
                  <a:pt x="6347567" y="5371298"/>
                </a:lnTo>
                <a:lnTo>
                  <a:pt x="0" y="53712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464" t="0" r="-13464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3940270">
            <a:off x="13376930" y="6536425"/>
            <a:ext cx="7764740" cy="3222367"/>
          </a:xfrm>
          <a:custGeom>
            <a:avLst/>
            <a:gdLst/>
            <a:ahLst/>
            <a:cxnLst/>
            <a:rect r="r" b="b" t="t" l="l"/>
            <a:pathLst>
              <a:path h="3222367" w="7764740">
                <a:moveTo>
                  <a:pt x="0" y="0"/>
                </a:moveTo>
                <a:lnTo>
                  <a:pt x="7764740" y="0"/>
                </a:lnTo>
                <a:lnTo>
                  <a:pt x="7764740" y="3222368"/>
                </a:lnTo>
                <a:lnTo>
                  <a:pt x="0" y="32223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2114" y="-444535"/>
            <a:ext cx="19835998" cy="12793509"/>
            <a:chOff x="0" y="0"/>
            <a:chExt cx="5224296" cy="3369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4296" cy="3369484"/>
            </a:xfrm>
            <a:custGeom>
              <a:avLst/>
              <a:gdLst/>
              <a:ahLst/>
              <a:cxnLst/>
              <a:rect r="r" b="b" t="t" l="l"/>
              <a:pathLst>
                <a:path h="3369484" w="5224296">
                  <a:moveTo>
                    <a:pt x="6635" y="0"/>
                  </a:moveTo>
                  <a:lnTo>
                    <a:pt x="5217661" y="0"/>
                  </a:lnTo>
                  <a:cubicBezTo>
                    <a:pt x="5221325" y="0"/>
                    <a:pt x="5224296" y="2971"/>
                    <a:pt x="5224296" y="6635"/>
                  </a:cubicBezTo>
                  <a:lnTo>
                    <a:pt x="5224296" y="3362849"/>
                  </a:lnTo>
                  <a:cubicBezTo>
                    <a:pt x="5224296" y="3364609"/>
                    <a:pt x="5223597" y="3366296"/>
                    <a:pt x="5222353" y="3367541"/>
                  </a:cubicBezTo>
                  <a:cubicBezTo>
                    <a:pt x="5221108" y="3368785"/>
                    <a:pt x="5219421" y="3369484"/>
                    <a:pt x="5217661" y="3369484"/>
                  </a:cubicBezTo>
                  <a:lnTo>
                    <a:pt x="6635" y="3369484"/>
                  </a:lnTo>
                  <a:cubicBezTo>
                    <a:pt x="2971" y="3369484"/>
                    <a:pt x="0" y="3366513"/>
                    <a:pt x="0" y="3362849"/>
                  </a:cubicBezTo>
                  <a:lnTo>
                    <a:pt x="0" y="6635"/>
                  </a:lnTo>
                  <a:cubicBezTo>
                    <a:pt x="0" y="4875"/>
                    <a:pt x="699" y="3188"/>
                    <a:pt x="1943" y="1943"/>
                  </a:cubicBezTo>
                  <a:cubicBezTo>
                    <a:pt x="3188" y="699"/>
                    <a:pt x="4875" y="0"/>
                    <a:pt x="6635" y="0"/>
                  </a:cubicBezTo>
                  <a:close/>
                </a:path>
              </a:pathLst>
            </a:custGeom>
            <a:solidFill>
              <a:srgbClr val="C2DF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24296" cy="3417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17220"/>
            <a:ext cx="13030200" cy="480060"/>
            <a:chOff x="0" y="0"/>
            <a:chExt cx="173736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37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D5A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PARTE I · PUNTO 3 · FUNDAMENTACIÓN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69848"/>
            <a:ext cx="14401800" cy="960120"/>
            <a:chOff x="0" y="0"/>
            <a:chExt cx="1920240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Relevancia del Proyecto APT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1947672"/>
            <a:ext cx="14813280" cy="548640"/>
            <a:chOff x="0" y="0"/>
            <a:chExt cx="197510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751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Qué problema resuelve tu proyecto y por qué es relevante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2856909" y="5226895"/>
            <a:ext cx="4402391" cy="4031405"/>
          </a:xfrm>
          <a:custGeom>
            <a:avLst/>
            <a:gdLst/>
            <a:ahLst/>
            <a:cxnLst/>
            <a:rect r="r" b="b" t="t" l="l"/>
            <a:pathLst>
              <a:path h="4031405" w="4402391">
                <a:moveTo>
                  <a:pt x="0" y="0"/>
                </a:moveTo>
                <a:lnTo>
                  <a:pt x="4402391" y="0"/>
                </a:lnTo>
                <a:lnTo>
                  <a:pt x="4402391" y="4031405"/>
                </a:lnTo>
                <a:lnTo>
                  <a:pt x="0" y="4031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912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22960" y="2343912"/>
            <a:ext cx="11371011" cy="681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9"/>
              </a:lnSpc>
            </a:pPr>
          </a:p>
          <a:p>
            <a:pPr algn="l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 ¿Por qué es relevante para tu carrera?</a:t>
            </a:r>
          </a:p>
          <a:p>
            <a:pPr algn="l">
              <a:lnSpc>
                <a:spcPts val="5369"/>
              </a:lnSpc>
            </a:pPr>
          </a:p>
          <a:p>
            <a:pPr algn="l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¿Dónde se ubica la situación que vas a abordar?</a:t>
            </a:r>
          </a:p>
          <a:p>
            <a:pPr algn="l">
              <a:lnSpc>
                <a:spcPts val="5369"/>
              </a:lnSpc>
            </a:pPr>
          </a:p>
          <a:p>
            <a:pPr algn="l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¿A quiénes afecta o impacta la situación que vas a abordar?</a:t>
            </a:r>
          </a:p>
          <a:p>
            <a:pPr algn="l">
              <a:lnSpc>
                <a:spcPts val="5369"/>
              </a:lnSpc>
            </a:pPr>
          </a:p>
          <a:p>
            <a:pPr algn="l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¿Cuál sería el aporte de valor del proyecto?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2114" y="-444535"/>
            <a:ext cx="19835998" cy="12793509"/>
            <a:chOff x="0" y="0"/>
            <a:chExt cx="5224296" cy="3369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4296" cy="3369484"/>
            </a:xfrm>
            <a:custGeom>
              <a:avLst/>
              <a:gdLst/>
              <a:ahLst/>
              <a:cxnLst/>
              <a:rect r="r" b="b" t="t" l="l"/>
              <a:pathLst>
                <a:path h="3369484" w="5224296">
                  <a:moveTo>
                    <a:pt x="6635" y="0"/>
                  </a:moveTo>
                  <a:lnTo>
                    <a:pt x="5217661" y="0"/>
                  </a:lnTo>
                  <a:cubicBezTo>
                    <a:pt x="5221325" y="0"/>
                    <a:pt x="5224296" y="2971"/>
                    <a:pt x="5224296" y="6635"/>
                  </a:cubicBezTo>
                  <a:lnTo>
                    <a:pt x="5224296" y="3362849"/>
                  </a:lnTo>
                  <a:cubicBezTo>
                    <a:pt x="5224296" y="3364609"/>
                    <a:pt x="5223597" y="3366296"/>
                    <a:pt x="5222353" y="3367541"/>
                  </a:cubicBezTo>
                  <a:cubicBezTo>
                    <a:pt x="5221108" y="3368785"/>
                    <a:pt x="5219421" y="3369484"/>
                    <a:pt x="5217661" y="3369484"/>
                  </a:cubicBezTo>
                  <a:lnTo>
                    <a:pt x="6635" y="3369484"/>
                  </a:lnTo>
                  <a:cubicBezTo>
                    <a:pt x="2971" y="3369484"/>
                    <a:pt x="0" y="3366513"/>
                    <a:pt x="0" y="3362849"/>
                  </a:cubicBezTo>
                  <a:lnTo>
                    <a:pt x="0" y="6635"/>
                  </a:lnTo>
                  <a:cubicBezTo>
                    <a:pt x="0" y="4875"/>
                    <a:pt x="699" y="3188"/>
                    <a:pt x="1943" y="1943"/>
                  </a:cubicBezTo>
                  <a:cubicBezTo>
                    <a:pt x="3188" y="699"/>
                    <a:pt x="4875" y="0"/>
                    <a:pt x="6635" y="0"/>
                  </a:cubicBezTo>
                  <a:close/>
                </a:path>
              </a:pathLst>
            </a:custGeom>
            <a:solidFill>
              <a:srgbClr val="C2DF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24296" cy="3417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17220"/>
            <a:ext cx="13030200" cy="480060"/>
            <a:chOff x="0" y="0"/>
            <a:chExt cx="173736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37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D5A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PARTE I · PUNTO 3 · FUNDAMENTACIÓN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69848"/>
            <a:ext cx="14401800" cy="960120"/>
            <a:chOff x="0" y="0"/>
            <a:chExt cx="1920240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Stack Tecnológico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355310" y="2470478"/>
            <a:ext cx="4423886" cy="3317914"/>
          </a:xfrm>
          <a:custGeom>
            <a:avLst/>
            <a:gdLst/>
            <a:ahLst/>
            <a:cxnLst/>
            <a:rect r="r" b="b" t="t" l="l"/>
            <a:pathLst>
              <a:path h="3317914" w="4423886">
                <a:moveTo>
                  <a:pt x="0" y="0"/>
                </a:moveTo>
                <a:lnTo>
                  <a:pt x="4423886" y="0"/>
                </a:lnTo>
                <a:lnTo>
                  <a:pt x="4423886" y="3317914"/>
                </a:lnTo>
                <a:lnTo>
                  <a:pt x="0" y="3317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194743" y="2470478"/>
            <a:ext cx="5898514" cy="3317914"/>
          </a:xfrm>
          <a:custGeom>
            <a:avLst/>
            <a:gdLst/>
            <a:ahLst/>
            <a:cxnLst/>
            <a:rect r="r" b="b" t="t" l="l"/>
            <a:pathLst>
              <a:path h="3317914" w="5898514">
                <a:moveTo>
                  <a:pt x="0" y="0"/>
                </a:moveTo>
                <a:lnTo>
                  <a:pt x="5898514" y="0"/>
                </a:lnTo>
                <a:lnTo>
                  <a:pt x="5898514" y="3317914"/>
                </a:lnTo>
                <a:lnTo>
                  <a:pt x="0" y="331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356913" y="6030829"/>
            <a:ext cx="3227471" cy="3227471"/>
          </a:xfrm>
          <a:custGeom>
            <a:avLst/>
            <a:gdLst/>
            <a:ahLst/>
            <a:cxnLst/>
            <a:rect r="r" b="b" t="t" l="l"/>
            <a:pathLst>
              <a:path h="3227471" w="3227471">
                <a:moveTo>
                  <a:pt x="0" y="0"/>
                </a:moveTo>
                <a:lnTo>
                  <a:pt x="3227471" y="0"/>
                </a:lnTo>
                <a:lnTo>
                  <a:pt x="3227471" y="3227471"/>
                </a:lnTo>
                <a:lnTo>
                  <a:pt x="0" y="32274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834706" y="6030829"/>
            <a:ext cx="3465095" cy="3465095"/>
          </a:xfrm>
          <a:custGeom>
            <a:avLst/>
            <a:gdLst/>
            <a:ahLst/>
            <a:cxnLst/>
            <a:rect r="r" b="b" t="t" l="l"/>
            <a:pathLst>
              <a:path h="3465095" w="3465095">
                <a:moveTo>
                  <a:pt x="0" y="0"/>
                </a:moveTo>
                <a:lnTo>
                  <a:pt x="3465094" y="0"/>
                </a:lnTo>
                <a:lnTo>
                  <a:pt x="3465094" y="3465094"/>
                </a:lnTo>
                <a:lnTo>
                  <a:pt x="0" y="34650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2114" y="-444535"/>
            <a:ext cx="19835998" cy="12793509"/>
            <a:chOff x="0" y="0"/>
            <a:chExt cx="5224296" cy="3369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4296" cy="3369484"/>
            </a:xfrm>
            <a:custGeom>
              <a:avLst/>
              <a:gdLst/>
              <a:ahLst/>
              <a:cxnLst/>
              <a:rect r="r" b="b" t="t" l="l"/>
              <a:pathLst>
                <a:path h="3369484" w="5224296">
                  <a:moveTo>
                    <a:pt x="6635" y="0"/>
                  </a:moveTo>
                  <a:lnTo>
                    <a:pt x="5217661" y="0"/>
                  </a:lnTo>
                  <a:cubicBezTo>
                    <a:pt x="5221325" y="0"/>
                    <a:pt x="5224296" y="2971"/>
                    <a:pt x="5224296" y="6635"/>
                  </a:cubicBezTo>
                  <a:lnTo>
                    <a:pt x="5224296" y="3362849"/>
                  </a:lnTo>
                  <a:cubicBezTo>
                    <a:pt x="5224296" y="3364609"/>
                    <a:pt x="5223597" y="3366296"/>
                    <a:pt x="5222353" y="3367541"/>
                  </a:cubicBezTo>
                  <a:cubicBezTo>
                    <a:pt x="5221108" y="3368785"/>
                    <a:pt x="5219421" y="3369484"/>
                    <a:pt x="5217661" y="3369484"/>
                  </a:cubicBezTo>
                  <a:lnTo>
                    <a:pt x="6635" y="3369484"/>
                  </a:lnTo>
                  <a:cubicBezTo>
                    <a:pt x="2971" y="3369484"/>
                    <a:pt x="0" y="3366513"/>
                    <a:pt x="0" y="3362849"/>
                  </a:cubicBezTo>
                  <a:lnTo>
                    <a:pt x="0" y="6635"/>
                  </a:lnTo>
                  <a:cubicBezTo>
                    <a:pt x="0" y="4875"/>
                    <a:pt x="699" y="3188"/>
                    <a:pt x="1943" y="1943"/>
                  </a:cubicBezTo>
                  <a:cubicBezTo>
                    <a:pt x="3188" y="699"/>
                    <a:pt x="4875" y="0"/>
                    <a:pt x="6635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24296" cy="3417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4728" y="205740"/>
            <a:ext cx="822960" cy="822960"/>
            <a:chOff x="0" y="0"/>
            <a:chExt cx="109728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254728" y="246888"/>
            <a:ext cx="822960" cy="822960"/>
            <a:chOff x="0" y="0"/>
            <a:chExt cx="109728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17220"/>
            <a:ext cx="13030200" cy="480060"/>
            <a:chOff x="0" y="0"/>
            <a:chExt cx="173736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37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D5A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PARTE II · PUNTO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69848"/>
            <a:ext cx="14401800" cy="960120"/>
            <a:chOff x="0" y="0"/>
            <a:chExt cx="1920240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18381" y="2604309"/>
            <a:ext cx="15651238" cy="36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3"/>
              </a:lnSpc>
              <a:spcBef>
                <a:spcPct val="0"/>
              </a:spcBef>
            </a:pPr>
            <a:r>
              <a:rPr lang="en-US" b="true" sz="475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Desarrollar un servicio digital que permita el contacto con prestadores de servicios, que incorpore la validación de credenciales contra registros oficiales y un sistema de valoraciones de usuarios, con el fin de reducir la asimetría de información existente en la contratación de servicios.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759458" y="6969275"/>
            <a:ext cx="2769085" cy="2769085"/>
          </a:xfrm>
          <a:custGeom>
            <a:avLst/>
            <a:gdLst/>
            <a:ahLst/>
            <a:cxnLst/>
            <a:rect r="r" b="b" t="t" l="l"/>
            <a:pathLst>
              <a:path h="2769085" w="2769085">
                <a:moveTo>
                  <a:pt x="0" y="0"/>
                </a:moveTo>
                <a:lnTo>
                  <a:pt x="2769084" y="0"/>
                </a:lnTo>
                <a:lnTo>
                  <a:pt x="2769084" y="2769085"/>
                </a:lnTo>
                <a:lnTo>
                  <a:pt x="0" y="2769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2114" y="-444535"/>
            <a:ext cx="19835998" cy="12793509"/>
            <a:chOff x="0" y="0"/>
            <a:chExt cx="5224296" cy="3369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4296" cy="3369484"/>
            </a:xfrm>
            <a:custGeom>
              <a:avLst/>
              <a:gdLst/>
              <a:ahLst/>
              <a:cxnLst/>
              <a:rect r="r" b="b" t="t" l="l"/>
              <a:pathLst>
                <a:path h="3369484" w="5224296">
                  <a:moveTo>
                    <a:pt x="6635" y="0"/>
                  </a:moveTo>
                  <a:lnTo>
                    <a:pt x="5217661" y="0"/>
                  </a:lnTo>
                  <a:cubicBezTo>
                    <a:pt x="5221325" y="0"/>
                    <a:pt x="5224296" y="2971"/>
                    <a:pt x="5224296" y="6635"/>
                  </a:cubicBezTo>
                  <a:lnTo>
                    <a:pt x="5224296" y="3362849"/>
                  </a:lnTo>
                  <a:cubicBezTo>
                    <a:pt x="5224296" y="3364609"/>
                    <a:pt x="5223597" y="3366296"/>
                    <a:pt x="5222353" y="3367541"/>
                  </a:cubicBezTo>
                  <a:cubicBezTo>
                    <a:pt x="5221108" y="3368785"/>
                    <a:pt x="5219421" y="3369484"/>
                    <a:pt x="5217661" y="3369484"/>
                  </a:cubicBezTo>
                  <a:lnTo>
                    <a:pt x="6635" y="3369484"/>
                  </a:lnTo>
                  <a:cubicBezTo>
                    <a:pt x="2971" y="3369484"/>
                    <a:pt x="0" y="3366513"/>
                    <a:pt x="0" y="3362849"/>
                  </a:cubicBezTo>
                  <a:lnTo>
                    <a:pt x="0" y="6635"/>
                  </a:lnTo>
                  <a:cubicBezTo>
                    <a:pt x="0" y="4875"/>
                    <a:pt x="699" y="3188"/>
                    <a:pt x="1943" y="1943"/>
                  </a:cubicBezTo>
                  <a:cubicBezTo>
                    <a:pt x="3188" y="699"/>
                    <a:pt x="4875" y="0"/>
                    <a:pt x="6635" y="0"/>
                  </a:cubicBezTo>
                  <a:close/>
                </a:path>
              </a:pathLst>
            </a:custGeom>
            <a:solidFill>
              <a:srgbClr val="C2DF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24296" cy="3417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4728" y="205740"/>
            <a:ext cx="822960" cy="822960"/>
            <a:chOff x="0" y="0"/>
            <a:chExt cx="109728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254728" y="246888"/>
            <a:ext cx="822960" cy="822960"/>
            <a:chOff x="0" y="0"/>
            <a:chExt cx="109728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17220"/>
            <a:ext cx="13030200" cy="480060"/>
            <a:chOff x="0" y="0"/>
            <a:chExt cx="173736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37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D5A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PARTE II · PUNTO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069848"/>
            <a:ext cx="14401800" cy="960120"/>
            <a:chOff x="0" y="0"/>
            <a:chExt cx="1920240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28700" y="7938484"/>
            <a:ext cx="1319816" cy="1319816"/>
          </a:xfrm>
          <a:custGeom>
            <a:avLst/>
            <a:gdLst/>
            <a:ahLst/>
            <a:cxnLst/>
            <a:rect r="r" b="b" t="t" l="l"/>
            <a:pathLst>
              <a:path h="1319816" w="1319816">
                <a:moveTo>
                  <a:pt x="0" y="0"/>
                </a:moveTo>
                <a:lnTo>
                  <a:pt x="1319816" y="0"/>
                </a:lnTo>
                <a:lnTo>
                  <a:pt x="1319816" y="1319816"/>
                </a:lnTo>
                <a:lnTo>
                  <a:pt x="0" y="1319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8700" y="3261119"/>
            <a:ext cx="1319816" cy="1319816"/>
          </a:xfrm>
          <a:custGeom>
            <a:avLst/>
            <a:gdLst/>
            <a:ahLst/>
            <a:cxnLst/>
            <a:rect r="r" b="b" t="t" l="l"/>
            <a:pathLst>
              <a:path h="1319816" w="1319816">
                <a:moveTo>
                  <a:pt x="0" y="0"/>
                </a:moveTo>
                <a:lnTo>
                  <a:pt x="1319816" y="0"/>
                </a:lnTo>
                <a:lnTo>
                  <a:pt x="1319816" y="1319816"/>
                </a:lnTo>
                <a:lnTo>
                  <a:pt x="0" y="1319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28700" y="5599802"/>
            <a:ext cx="1319816" cy="1319816"/>
          </a:xfrm>
          <a:custGeom>
            <a:avLst/>
            <a:gdLst/>
            <a:ahLst/>
            <a:cxnLst/>
            <a:rect r="r" b="b" t="t" l="l"/>
            <a:pathLst>
              <a:path h="1319816" w="1319816">
                <a:moveTo>
                  <a:pt x="0" y="0"/>
                </a:moveTo>
                <a:lnTo>
                  <a:pt x="1319816" y="0"/>
                </a:lnTo>
                <a:lnTo>
                  <a:pt x="1319816" y="1319816"/>
                </a:lnTo>
                <a:lnTo>
                  <a:pt x="0" y="1319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728571" y="3170034"/>
            <a:ext cx="14183257" cy="134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3686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Investigación de necesidades del proyecto; historias de usuarios, requisitos del sistema, metodología, entre otros.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28571" y="5772790"/>
            <a:ext cx="12830858" cy="704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728571" y="5128706"/>
            <a:ext cx="14183257" cy="199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3686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Generar un conjunto de servicios que permitan un ecosistema flexible para uso y desarrollo por etapas; con vistas App móvil y web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28571" y="7795609"/>
            <a:ext cx="14183257" cy="134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3686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Enfocar nuestros sistemas para usuarios alejados de la tecnología, con la mayor orientación hacia vistas intuitivas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2114" y="-444535"/>
            <a:ext cx="19835998" cy="12793509"/>
            <a:chOff x="0" y="0"/>
            <a:chExt cx="5224296" cy="3369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4296" cy="3369484"/>
            </a:xfrm>
            <a:custGeom>
              <a:avLst/>
              <a:gdLst/>
              <a:ahLst/>
              <a:cxnLst/>
              <a:rect r="r" b="b" t="t" l="l"/>
              <a:pathLst>
                <a:path h="3369484" w="5224296">
                  <a:moveTo>
                    <a:pt x="6635" y="0"/>
                  </a:moveTo>
                  <a:lnTo>
                    <a:pt x="5217661" y="0"/>
                  </a:lnTo>
                  <a:cubicBezTo>
                    <a:pt x="5221325" y="0"/>
                    <a:pt x="5224296" y="2971"/>
                    <a:pt x="5224296" y="6635"/>
                  </a:cubicBezTo>
                  <a:lnTo>
                    <a:pt x="5224296" y="3362849"/>
                  </a:lnTo>
                  <a:cubicBezTo>
                    <a:pt x="5224296" y="3364609"/>
                    <a:pt x="5223597" y="3366296"/>
                    <a:pt x="5222353" y="3367541"/>
                  </a:cubicBezTo>
                  <a:cubicBezTo>
                    <a:pt x="5221108" y="3368785"/>
                    <a:pt x="5219421" y="3369484"/>
                    <a:pt x="5217661" y="3369484"/>
                  </a:cubicBezTo>
                  <a:lnTo>
                    <a:pt x="6635" y="3369484"/>
                  </a:lnTo>
                  <a:cubicBezTo>
                    <a:pt x="2971" y="3369484"/>
                    <a:pt x="0" y="3366513"/>
                    <a:pt x="0" y="3362849"/>
                  </a:cubicBezTo>
                  <a:lnTo>
                    <a:pt x="0" y="6635"/>
                  </a:lnTo>
                  <a:cubicBezTo>
                    <a:pt x="0" y="4875"/>
                    <a:pt x="699" y="3188"/>
                    <a:pt x="1943" y="1943"/>
                  </a:cubicBezTo>
                  <a:cubicBezTo>
                    <a:pt x="3188" y="699"/>
                    <a:pt x="4875" y="0"/>
                    <a:pt x="6635" y="0"/>
                  </a:cubicBezTo>
                  <a:close/>
                </a:path>
              </a:pathLst>
            </a:custGeom>
            <a:solidFill>
              <a:srgbClr val="C2DF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24296" cy="3417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23860" y="685800"/>
            <a:ext cx="7200900" cy="9172107"/>
            <a:chOff x="0" y="0"/>
            <a:chExt cx="1896533" cy="24156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6533" cy="2415699"/>
            </a:xfrm>
            <a:custGeom>
              <a:avLst/>
              <a:gdLst/>
              <a:ahLst/>
              <a:cxnLst/>
              <a:rect r="r" b="b" t="t" l="l"/>
              <a:pathLst>
                <a:path h="2415699" w="1896533">
                  <a:moveTo>
                    <a:pt x="66658" y="0"/>
                  </a:moveTo>
                  <a:lnTo>
                    <a:pt x="1829875" y="0"/>
                  </a:lnTo>
                  <a:cubicBezTo>
                    <a:pt x="1847554" y="0"/>
                    <a:pt x="1864509" y="7023"/>
                    <a:pt x="1877009" y="19524"/>
                  </a:cubicBezTo>
                  <a:cubicBezTo>
                    <a:pt x="1889510" y="32025"/>
                    <a:pt x="1896533" y="48979"/>
                    <a:pt x="1896533" y="66658"/>
                  </a:cubicBezTo>
                  <a:lnTo>
                    <a:pt x="1896533" y="2349041"/>
                  </a:lnTo>
                  <a:cubicBezTo>
                    <a:pt x="1896533" y="2385855"/>
                    <a:pt x="1866689" y="2415699"/>
                    <a:pt x="1829875" y="2415699"/>
                  </a:cubicBezTo>
                  <a:lnTo>
                    <a:pt x="66658" y="2415699"/>
                  </a:lnTo>
                  <a:cubicBezTo>
                    <a:pt x="29844" y="2415699"/>
                    <a:pt x="0" y="2385855"/>
                    <a:pt x="0" y="2349041"/>
                  </a:cubicBezTo>
                  <a:lnTo>
                    <a:pt x="0" y="66658"/>
                  </a:lnTo>
                  <a:cubicBezTo>
                    <a:pt x="0" y="29844"/>
                    <a:pt x="29844" y="0"/>
                    <a:pt x="66658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96533" cy="2463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617220"/>
            <a:ext cx="13030200" cy="480060"/>
            <a:chOff x="0" y="0"/>
            <a:chExt cx="1737360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7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37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D5A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PARTE II · PUNTO 5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5400000">
            <a:off x="12312343" y="5337259"/>
            <a:ext cx="5601314" cy="1046479"/>
          </a:xfrm>
          <a:custGeom>
            <a:avLst/>
            <a:gdLst/>
            <a:ahLst/>
            <a:cxnLst/>
            <a:rect r="r" b="b" t="t" l="l"/>
            <a:pathLst>
              <a:path h="1046479" w="5601314">
                <a:moveTo>
                  <a:pt x="0" y="0"/>
                </a:moveTo>
                <a:lnTo>
                  <a:pt x="5601315" y="0"/>
                </a:lnTo>
                <a:lnTo>
                  <a:pt x="5601315" y="1046479"/>
                </a:lnTo>
                <a:lnTo>
                  <a:pt x="0" y="10464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6489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22960" y="1069848"/>
            <a:ext cx="14401800" cy="960120"/>
            <a:chOff x="0" y="0"/>
            <a:chExt cx="1920240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Metodología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1947672"/>
            <a:ext cx="14813280" cy="548640"/>
            <a:chOff x="0" y="0"/>
            <a:chExt cx="197510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751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Etapas y métodos de trabajo propios de tu disciplina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28700" y="3107173"/>
            <a:ext cx="5553983" cy="5553983"/>
          </a:xfrm>
          <a:custGeom>
            <a:avLst/>
            <a:gdLst/>
            <a:ahLst/>
            <a:cxnLst/>
            <a:rect r="r" b="b" t="t" l="l"/>
            <a:pathLst>
              <a:path h="5553983" w="5553983">
                <a:moveTo>
                  <a:pt x="0" y="0"/>
                </a:moveTo>
                <a:lnTo>
                  <a:pt x="5553983" y="0"/>
                </a:lnTo>
                <a:lnTo>
                  <a:pt x="5553983" y="5553982"/>
                </a:lnTo>
                <a:lnTo>
                  <a:pt x="0" y="55539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746306" y="1256919"/>
            <a:ext cx="5864738" cy="825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Roles y responsabilidades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Product Owner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Scrum Master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Development Team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Stakeholders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Eventos de Scrum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Sprint Planning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Daily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Sprint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Sprint Review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Sprint Retrospective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Increment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Artefactos y herramientas</a:t>
            </a: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b="true" sz="341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Historias de usuarios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617220"/>
            <a:ext cx="13030200" cy="480060"/>
            <a:chOff x="0" y="0"/>
            <a:chExt cx="17373600" cy="640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37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D5A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PARTE II · PUNTO 7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98565" y="-274320"/>
            <a:ext cx="14401800" cy="960120"/>
            <a:chOff x="0" y="0"/>
            <a:chExt cx="1920240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Plan de Trabajo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947672"/>
            <a:ext cx="14813280" cy="548640"/>
            <a:chOff x="0" y="0"/>
            <a:chExt cx="197510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751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Actividades, recursos, duración y responsables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aphicFrame>
        <p:nvGraphicFramePr>
          <p:cNvPr name="Object 22" id="22"/>
          <p:cNvGraphicFramePr/>
          <p:nvPr/>
        </p:nvGraphicFramePr>
        <p:xfrm>
          <a:off x="0" y="442731"/>
          <a:ext cx="5029200" cy="10477500"/>
        </p:xfrm>
        <a:graphic>
          <a:graphicData uri="http://schemas.openxmlformats.org/presentationml/2006/ole">
            <p:oleObj imgW="7124700" imgH="125730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617220"/>
            <a:ext cx="13030200" cy="480060"/>
            <a:chOff x="0" y="0"/>
            <a:chExt cx="17373600" cy="640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37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D5A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PARTE II · PUNTO 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069848"/>
            <a:ext cx="14401800" cy="960120"/>
            <a:chOff x="0" y="0"/>
            <a:chExt cx="1920240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Carta Gantt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5800" y="2029968"/>
            <a:ext cx="17035012" cy="8257032"/>
          </a:xfrm>
          <a:custGeom>
            <a:avLst/>
            <a:gdLst/>
            <a:ahLst/>
            <a:cxnLst/>
            <a:rect r="r" b="b" t="t" l="l"/>
            <a:pathLst>
              <a:path h="8257032" w="17035012">
                <a:moveTo>
                  <a:pt x="0" y="0"/>
                </a:moveTo>
                <a:lnTo>
                  <a:pt x="17035012" y="0"/>
                </a:lnTo>
                <a:lnTo>
                  <a:pt x="17035012" y="8257032"/>
                </a:lnTo>
                <a:lnTo>
                  <a:pt x="0" y="8257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2743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6B2FBE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30200" y="5486400"/>
            <a:ext cx="8229600" cy="8229600"/>
            <a:chOff x="0" y="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3D5AFE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3703320"/>
            <a:ext cx="15773400" cy="1508760"/>
            <a:chOff x="0" y="0"/>
            <a:chExt cx="2103120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03120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¡Gracias!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5143500"/>
            <a:ext cx="15087600" cy="685800"/>
            <a:chOff x="0" y="0"/>
            <a:chExt cx="201168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1168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8FA5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Preguntas y comentarios sobre nuestro Proyecto APT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8915400"/>
            <a:ext cx="15087600" cy="548640"/>
            <a:chOff x="0" y="0"/>
            <a:chExt cx="201168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11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FA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[Nombre del Proyecto APT]  ·  [Integrantes]  ·  [Carrera]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DAHUEoXRam8</dc:identifier>
  <dcterms:modified xsi:type="dcterms:W3CDTF">2011-08-01T06:04:30Z</dcterms:modified>
  <cp:revision>1</cp:revision>
  <dc:title>Plantilla_Fase1_ProyectoAPT.pptx</dc:title>
</cp:coreProperties>
</file>